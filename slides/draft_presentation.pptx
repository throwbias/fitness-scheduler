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210" d="100"/>
          <a:sy n="210" d="100"/>
        </p:scale>
        <p:origin x="38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Composite Score</c:v>
                </c:pt>
              </c:strCache>
            </c:strRef>
          </c:tx>
          <c:spPr>
            <a:solidFill>
              <a:srgbClr val="CBD5E1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CE30-4AAF-B2E7-9757866DC089}"/>
              </c:ext>
            </c:extLst>
          </c:dPt>
          <c:dPt>
            <c:idx val="1"/>
            <c:invertIfNegative val="0"/>
            <c:bubble3D val="0"/>
            <c:spPr>
              <a:solidFill>
                <a:srgbClr val="065A8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E30-4AAF-B2E7-9757866DC089}"/>
              </c:ext>
            </c:extLst>
          </c:dPt>
          <c:dPt>
            <c:idx val="2"/>
            <c:invertIfNegative val="0"/>
            <c:bubble3D val="0"/>
            <c:spPr>
              <a:solidFill>
                <a:srgbClr val="02C39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CE30-4AAF-B2E7-9757866DC089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Random</c:v>
                </c:pt>
                <c:pt idx="1">
                  <c:v>Greedy</c:v>
                </c:pt>
                <c:pt idx="2">
                  <c:v>Refined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42</c:v>
                </c:pt>
                <c:pt idx="1">
                  <c:v>61.79</c:v>
                </c:pt>
                <c:pt idx="2">
                  <c:v>73.8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CE30-4AAF-B2E7-9757866DC08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7A8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90"/>
          <c:min val="0"/>
        </c:scaling>
        <c:delete val="0"/>
        <c:axPos val="b"/>
        <c:majorGridlines>
          <c:spPr>
            <a:ln w="6350" cap="flat">
              <a:solidFill>
                <a:srgbClr val="CBD5E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7A8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97462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190488" y="429768"/>
            <a:ext cx="54864" cy="54864"/>
          </a:xfrm>
          <a:prstGeom prst="ellipse">
            <a:avLst/>
          </a:prstGeom>
          <a:solidFill>
            <a:srgbClr val="1C4A6E"/>
          </a:solidFill>
          <a:ln w="12700">
            <a:solidFill>
              <a:srgbClr val="1C4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693408" y="429768"/>
            <a:ext cx="54864" cy="54864"/>
          </a:xfrm>
          <a:prstGeom prst="ellipse">
            <a:avLst/>
          </a:prstGeom>
          <a:solidFill>
            <a:srgbClr val="1C4A6E"/>
          </a:solidFill>
          <a:ln w="12700">
            <a:solidFill>
              <a:srgbClr val="1C4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196328" y="429768"/>
            <a:ext cx="54864" cy="54864"/>
          </a:xfrm>
          <a:prstGeom prst="ellipse">
            <a:avLst/>
          </a:prstGeom>
          <a:solidFill>
            <a:srgbClr val="1C4A6E"/>
          </a:solidFill>
          <a:ln w="12700">
            <a:solidFill>
              <a:srgbClr val="1C4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699248" y="429768"/>
            <a:ext cx="54864" cy="54864"/>
          </a:xfrm>
          <a:prstGeom prst="ellipse">
            <a:avLst/>
          </a:prstGeom>
          <a:solidFill>
            <a:srgbClr val="1C4A6E"/>
          </a:solidFill>
          <a:ln w="12700">
            <a:solidFill>
              <a:srgbClr val="1C4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202168" y="429768"/>
            <a:ext cx="54864" cy="54864"/>
          </a:xfrm>
          <a:prstGeom prst="ellipse">
            <a:avLst/>
          </a:prstGeom>
          <a:solidFill>
            <a:srgbClr val="1C4A6E"/>
          </a:solidFill>
          <a:ln w="12700">
            <a:solidFill>
              <a:srgbClr val="1C4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190488" y="996696"/>
            <a:ext cx="54864" cy="54864"/>
          </a:xfrm>
          <a:prstGeom prst="ellipse">
            <a:avLst/>
          </a:prstGeom>
          <a:solidFill>
            <a:srgbClr val="1C4A6E"/>
          </a:solidFill>
          <a:ln w="12700">
            <a:solidFill>
              <a:srgbClr val="1C4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693408" y="996696"/>
            <a:ext cx="54864" cy="54864"/>
          </a:xfrm>
          <a:prstGeom prst="ellipse">
            <a:avLst/>
          </a:prstGeom>
          <a:solidFill>
            <a:srgbClr val="1C4A6E"/>
          </a:solidFill>
          <a:ln w="12700">
            <a:solidFill>
              <a:srgbClr val="1C4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196328" y="996696"/>
            <a:ext cx="54864" cy="54864"/>
          </a:xfrm>
          <a:prstGeom prst="ellipse">
            <a:avLst/>
          </a:prstGeom>
          <a:solidFill>
            <a:srgbClr val="1C4A6E"/>
          </a:solidFill>
          <a:ln w="12700">
            <a:solidFill>
              <a:srgbClr val="1C4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699248" y="996696"/>
            <a:ext cx="54864" cy="54864"/>
          </a:xfrm>
          <a:prstGeom prst="ellipse">
            <a:avLst/>
          </a:prstGeom>
          <a:solidFill>
            <a:srgbClr val="1C4A6E"/>
          </a:solidFill>
          <a:ln w="12700">
            <a:solidFill>
              <a:srgbClr val="1C4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8202168" y="996696"/>
            <a:ext cx="54864" cy="54864"/>
          </a:xfrm>
          <a:prstGeom prst="ellipse">
            <a:avLst/>
          </a:prstGeom>
          <a:solidFill>
            <a:srgbClr val="1C4A6E"/>
          </a:solidFill>
          <a:ln w="12700">
            <a:solidFill>
              <a:srgbClr val="1C4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190488" y="1563624"/>
            <a:ext cx="54864" cy="54864"/>
          </a:xfrm>
          <a:prstGeom prst="ellipse">
            <a:avLst/>
          </a:prstGeom>
          <a:solidFill>
            <a:srgbClr val="1C4A6E"/>
          </a:solidFill>
          <a:ln w="12700">
            <a:solidFill>
              <a:srgbClr val="1C4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693408" y="1563624"/>
            <a:ext cx="54864" cy="54864"/>
          </a:xfrm>
          <a:prstGeom prst="ellipse">
            <a:avLst/>
          </a:prstGeom>
          <a:solidFill>
            <a:srgbClr val="1C4A6E"/>
          </a:solidFill>
          <a:ln w="12700">
            <a:solidFill>
              <a:srgbClr val="1C4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196328" y="1563624"/>
            <a:ext cx="54864" cy="54864"/>
          </a:xfrm>
          <a:prstGeom prst="ellipse">
            <a:avLst/>
          </a:prstGeom>
          <a:solidFill>
            <a:srgbClr val="1C4A6E"/>
          </a:solidFill>
          <a:ln w="12700">
            <a:solidFill>
              <a:srgbClr val="1C4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699248" y="1563624"/>
            <a:ext cx="54864" cy="54864"/>
          </a:xfrm>
          <a:prstGeom prst="ellipse">
            <a:avLst/>
          </a:prstGeom>
          <a:solidFill>
            <a:srgbClr val="1C4A6E"/>
          </a:solidFill>
          <a:ln w="12700">
            <a:solidFill>
              <a:srgbClr val="1C4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202168" y="1563624"/>
            <a:ext cx="54864" cy="54864"/>
          </a:xfrm>
          <a:prstGeom prst="ellipse">
            <a:avLst/>
          </a:prstGeom>
          <a:solidFill>
            <a:srgbClr val="1C4A6E"/>
          </a:solidFill>
          <a:ln w="12700">
            <a:solidFill>
              <a:srgbClr val="1C4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190488" y="2130552"/>
            <a:ext cx="54864" cy="54864"/>
          </a:xfrm>
          <a:prstGeom prst="ellipse">
            <a:avLst/>
          </a:prstGeom>
          <a:solidFill>
            <a:srgbClr val="1C4A6E"/>
          </a:solidFill>
          <a:ln w="12700">
            <a:solidFill>
              <a:srgbClr val="1C4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693408" y="2130552"/>
            <a:ext cx="54864" cy="54864"/>
          </a:xfrm>
          <a:prstGeom prst="ellipse">
            <a:avLst/>
          </a:prstGeom>
          <a:solidFill>
            <a:srgbClr val="1C4A6E"/>
          </a:solidFill>
          <a:ln w="12700">
            <a:solidFill>
              <a:srgbClr val="1C4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196328" y="2130552"/>
            <a:ext cx="54864" cy="54864"/>
          </a:xfrm>
          <a:prstGeom prst="ellipse">
            <a:avLst/>
          </a:prstGeom>
          <a:solidFill>
            <a:srgbClr val="1C4A6E"/>
          </a:solidFill>
          <a:ln w="12700">
            <a:solidFill>
              <a:srgbClr val="1C4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699248" y="2130552"/>
            <a:ext cx="54864" cy="54864"/>
          </a:xfrm>
          <a:prstGeom prst="ellipse">
            <a:avLst/>
          </a:prstGeom>
          <a:solidFill>
            <a:srgbClr val="1C4A6E"/>
          </a:solidFill>
          <a:ln w="12700">
            <a:solidFill>
              <a:srgbClr val="1C4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8202168" y="2130552"/>
            <a:ext cx="54864" cy="54864"/>
          </a:xfrm>
          <a:prstGeom prst="ellipse">
            <a:avLst/>
          </a:prstGeom>
          <a:solidFill>
            <a:srgbClr val="1C4A6E"/>
          </a:solidFill>
          <a:ln w="12700">
            <a:solidFill>
              <a:srgbClr val="1C4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190488" y="2697480"/>
            <a:ext cx="54864" cy="54864"/>
          </a:xfrm>
          <a:prstGeom prst="ellipse">
            <a:avLst/>
          </a:prstGeom>
          <a:solidFill>
            <a:srgbClr val="1C4A6E"/>
          </a:solidFill>
          <a:ln w="12700">
            <a:solidFill>
              <a:srgbClr val="1C4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693408" y="2697480"/>
            <a:ext cx="54864" cy="54864"/>
          </a:xfrm>
          <a:prstGeom prst="ellipse">
            <a:avLst/>
          </a:prstGeom>
          <a:solidFill>
            <a:srgbClr val="1C4A6E"/>
          </a:solidFill>
          <a:ln w="12700">
            <a:solidFill>
              <a:srgbClr val="1C4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7196328" y="2697480"/>
            <a:ext cx="54864" cy="54864"/>
          </a:xfrm>
          <a:prstGeom prst="ellipse">
            <a:avLst/>
          </a:prstGeom>
          <a:solidFill>
            <a:srgbClr val="1C4A6E"/>
          </a:solidFill>
          <a:ln w="12700">
            <a:solidFill>
              <a:srgbClr val="1C4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7699248" y="2697480"/>
            <a:ext cx="54864" cy="54864"/>
          </a:xfrm>
          <a:prstGeom prst="ellipse">
            <a:avLst/>
          </a:prstGeom>
          <a:solidFill>
            <a:srgbClr val="1C4A6E"/>
          </a:solidFill>
          <a:ln w="12700">
            <a:solidFill>
              <a:srgbClr val="1C4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8202168" y="2697480"/>
            <a:ext cx="54864" cy="54864"/>
          </a:xfrm>
          <a:prstGeom prst="ellipse">
            <a:avLst/>
          </a:prstGeom>
          <a:solidFill>
            <a:srgbClr val="1C4A6E"/>
          </a:solidFill>
          <a:ln w="12700">
            <a:solidFill>
              <a:srgbClr val="1C4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6190488" y="3264408"/>
            <a:ext cx="54864" cy="54864"/>
          </a:xfrm>
          <a:prstGeom prst="ellipse">
            <a:avLst/>
          </a:prstGeom>
          <a:solidFill>
            <a:srgbClr val="1C4A6E"/>
          </a:solidFill>
          <a:ln w="12700">
            <a:solidFill>
              <a:srgbClr val="1C4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693408" y="3264408"/>
            <a:ext cx="54864" cy="54864"/>
          </a:xfrm>
          <a:prstGeom prst="ellipse">
            <a:avLst/>
          </a:prstGeom>
          <a:solidFill>
            <a:srgbClr val="1C4A6E"/>
          </a:solidFill>
          <a:ln w="12700">
            <a:solidFill>
              <a:srgbClr val="1C4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7196328" y="3264408"/>
            <a:ext cx="54864" cy="54864"/>
          </a:xfrm>
          <a:prstGeom prst="ellipse">
            <a:avLst/>
          </a:prstGeom>
          <a:solidFill>
            <a:srgbClr val="1C4A6E"/>
          </a:solidFill>
          <a:ln w="12700">
            <a:solidFill>
              <a:srgbClr val="1C4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7699248" y="3264408"/>
            <a:ext cx="54864" cy="54864"/>
          </a:xfrm>
          <a:prstGeom prst="ellipse">
            <a:avLst/>
          </a:prstGeom>
          <a:solidFill>
            <a:srgbClr val="1C4A6E"/>
          </a:solidFill>
          <a:ln w="12700">
            <a:solidFill>
              <a:srgbClr val="1C4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8202168" y="3264408"/>
            <a:ext cx="54864" cy="54864"/>
          </a:xfrm>
          <a:prstGeom prst="ellipse">
            <a:avLst/>
          </a:prstGeom>
          <a:solidFill>
            <a:srgbClr val="1C4A6E"/>
          </a:solidFill>
          <a:ln w="12700">
            <a:solidFill>
              <a:srgbClr val="1C4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6190488" y="3831336"/>
            <a:ext cx="54864" cy="54864"/>
          </a:xfrm>
          <a:prstGeom prst="ellipse">
            <a:avLst/>
          </a:prstGeom>
          <a:solidFill>
            <a:srgbClr val="1C4A6E"/>
          </a:solidFill>
          <a:ln w="12700">
            <a:solidFill>
              <a:srgbClr val="1C4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6693408" y="3831336"/>
            <a:ext cx="54864" cy="54864"/>
          </a:xfrm>
          <a:prstGeom prst="ellipse">
            <a:avLst/>
          </a:prstGeom>
          <a:solidFill>
            <a:srgbClr val="1C4A6E"/>
          </a:solidFill>
          <a:ln w="12700">
            <a:solidFill>
              <a:srgbClr val="1C4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7196328" y="3831336"/>
            <a:ext cx="54864" cy="54864"/>
          </a:xfrm>
          <a:prstGeom prst="ellipse">
            <a:avLst/>
          </a:prstGeom>
          <a:solidFill>
            <a:srgbClr val="1C4A6E"/>
          </a:solidFill>
          <a:ln w="12700">
            <a:solidFill>
              <a:srgbClr val="1C4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7699248" y="3831336"/>
            <a:ext cx="54864" cy="54864"/>
          </a:xfrm>
          <a:prstGeom prst="ellipse">
            <a:avLst/>
          </a:prstGeom>
          <a:solidFill>
            <a:srgbClr val="1C4A6E"/>
          </a:solidFill>
          <a:ln w="12700">
            <a:solidFill>
              <a:srgbClr val="1C4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8202168" y="3831336"/>
            <a:ext cx="54864" cy="54864"/>
          </a:xfrm>
          <a:prstGeom prst="ellipse">
            <a:avLst/>
          </a:prstGeom>
          <a:solidFill>
            <a:srgbClr val="1C4A6E"/>
          </a:solidFill>
          <a:ln w="12700">
            <a:solidFill>
              <a:srgbClr val="1C4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6190488" y="4398264"/>
            <a:ext cx="54864" cy="54864"/>
          </a:xfrm>
          <a:prstGeom prst="ellipse">
            <a:avLst/>
          </a:prstGeom>
          <a:solidFill>
            <a:srgbClr val="1C4A6E"/>
          </a:solidFill>
          <a:ln w="12700">
            <a:solidFill>
              <a:srgbClr val="1C4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6693408" y="4398264"/>
            <a:ext cx="54864" cy="54864"/>
          </a:xfrm>
          <a:prstGeom prst="ellipse">
            <a:avLst/>
          </a:prstGeom>
          <a:solidFill>
            <a:srgbClr val="1C4A6E"/>
          </a:solidFill>
          <a:ln w="12700">
            <a:solidFill>
              <a:srgbClr val="1C4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7196328" y="4398264"/>
            <a:ext cx="54864" cy="54864"/>
          </a:xfrm>
          <a:prstGeom prst="ellipse">
            <a:avLst/>
          </a:prstGeom>
          <a:solidFill>
            <a:srgbClr val="1C4A6E"/>
          </a:solidFill>
          <a:ln w="12700">
            <a:solidFill>
              <a:srgbClr val="1C4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7699248" y="4398264"/>
            <a:ext cx="54864" cy="54864"/>
          </a:xfrm>
          <a:prstGeom prst="ellipse">
            <a:avLst/>
          </a:prstGeom>
          <a:solidFill>
            <a:srgbClr val="1C4A6E"/>
          </a:solidFill>
          <a:ln w="12700">
            <a:solidFill>
              <a:srgbClr val="1C4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8202168" y="4398264"/>
            <a:ext cx="54864" cy="54864"/>
          </a:xfrm>
          <a:prstGeom prst="ellipse">
            <a:avLst/>
          </a:prstGeom>
          <a:solidFill>
            <a:srgbClr val="1C4A6E"/>
          </a:solidFill>
          <a:ln w="12700">
            <a:solidFill>
              <a:srgbClr val="1C4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6217920" y="731520"/>
            <a:ext cx="1005840" cy="566928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6720840" y="1298448"/>
            <a:ext cx="1005840" cy="566928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6217920" y="1865376"/>
            <a:ext cx="1005840" cy="566928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7223760" y="1298448"/>
            <a:ext cx="0" cy="1133856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6665976" y="1243584"/>
            <a:ext cx="109728" cy="10972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7168896" y="2377440"/>
            <a:ext cx="109728" cy="10972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457200" y="822960"/>
            <a:ext cx="566928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Algorithmic Optimization</a:t>
            </a:r>
            <a:endParaRPr lang="en-US" sz="3600" dirty="0"/>
          </a:p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of Weekly Training Plans</a:t>
            </a:r>
            <a:endParaRPr lang="en-US" sz="3600" dirty="0"/>
          </a:p>
        </p:txBody>
      </p:sp>
      <p:sp>
        <p:nvSpPr>
          <p:cNvPr id="50" name="Text 48"/>
          <p:cNvSpPr/>
          <p:nvPr/>
        </p:nvSpPr>
        <p:spPr>
          <a:xfrm>
            <a:off x="457200" y="315468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Hybrid Constraint-Based Scheduling Approach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457200" y="431596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Aaron Tobias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457200" y="4224528"/>
            <a:ext cx="2286000" cy="0"/>
          </a:xfrm>
          <a:prstGeom prst="line">
            <a:avLst/>
          </a:prstGeom>
          <a:noFill/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54864" cy="5029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30352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Definition: The Complexity of Programming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115568"/>
            <a:ext cx="256032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1115568"/>
            <a:ext cx="2560320" cy="4114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" y="1179576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29768" y="1572768"/>
            <a:ext cx="2359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Interdependence Problem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29768" y="2103120"/>
            <a:ext cx="235915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exercise selection alters the biological feasibility of future choices — a cascading decision tree where early picks constrain all downstream options.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154680" y="1115568"/>
            <a:ext cx="256032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3154680" y="1115568"/>
            <a:ext cx="2560320" cy="4114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64408" y="1179576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264408" y="1572768"/>
            <a:ext cx="2359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Computational Gap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264408" y="2103120"/>
            <a:ext cx="235915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programs rely on human intuition and heuristics, which frequently yield sub-optimal workload distribution across the training week.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989320" y="1115568"/>
            <a:ext cx="256032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5989320" y="1115568"/>
            <a:ext cx="2560320" cy="4114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9048" y="1179576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099048" y="1572768"/>
            <a:ext cx="2359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Model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6099048" y="2103120"/>
            <a:ext cx="235915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Fitness programming formulated as a Resource-Constrained Project Scheduling Problem (RCPSP) — enabling rigorous mathematical treatment (Pinedo, 2016).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54864" cy="5029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30352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Objectives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143000"/>
            <a:ext cx="41148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2920" y="1463040"/>
            <a:ext cx="594360" cy="59436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1536192"/>
            <a:ext cx="438912" cy="4389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1344168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Feasibility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280160" y="1709928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 strict time and biological recovery limits — no schedule violates hard physiological constraints.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754880" y="1143000"/>
            <a:ext cx="41148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937760" y="1463040"/>
            <a:ext cx="594360" cy="5943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0912" y="1536192"/>
            <a:ext cx="438912" cy="43891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715000" y="1344168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Optimization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5715000" y="1709928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Maximize exercise priority and movement category coverage across the weekly split.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320040" y="3017520"/>
            <a:ext cx="41148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502920" y="3337560"/>
            <a:ext cx="594360" cy="59436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072" y="3410712"/>
            <a:ext cx="438912" cy="43891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280160" y="3218688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Workload Balance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1280160" y="3584448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computational search to equalize modeled daily fatigue, preventing over-concentration on any single day.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4754880" y="3017520"/>
            <a:ext cx="41148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4937760" y="3337560"/>
            <a:ext cx="594360" cy="594360"/>
          </a:xfrm>
          <a:prstGeom prst="ellipse">
            <a:avLst/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10912" y="3410712"/>
            <a:ext cx="438912" cy="43891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715000" y="3218688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Target Output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5715000" y="3584448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 robust, structured 5-day training split that is both scientifically sound and executable.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54864" cy="7315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30352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30352" y="7498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Pipeline · Hybrid Two-Phase Approach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47472" y="1371600"/>
            <a:ext cx="1188720" cy="6400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47472" y="137160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(JSON)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554480" y="1691640"/>
            <a:ext cx="128016" cy="0"/>
          </a:xfrm>
          <a:prstGeom prst="line">
            <a:avLst/>
          </a:prstGeom>
          <a:noFill/>
          <a:ln w="19050">
            <a:solidFill>
              <a:srgbClr val="0A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572768" y="1581912"/>
            <a:ext cx="182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2540"/>
                </a:solidFill>
              </a:rPr>
              <a:t>▶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700784" y="1371600"/>
            <a:ext cx="1188720" cy="6400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700784" y="137160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907792" y="1691640"/>
            <a:ext cx="128016" cy="0"/>
          </a:xfrm>
          <a:prstGeom prst="line">
            <a:avLst/>
          </a:prstGeom>
          <a:noFill/>
          <a:ln w="19050">
            <a:solidFill>
              <a:srgbClr val="0A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926080" y="1581912"/>
            <a:ext cx="182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2540"/>
                </a:solidFill>
              </a:rPr>
              <a:t>▶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054096" y="1371600"/>
            <a:ext cx="1188720" cy="6400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054096" y="137160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261104" y="1691640"/>
            <a:ext cx="128016" cy="0"/>
          </a:xfrm>
          <a:prstGeom prst="line">
            <a:avLst/>
          </a:prstGeom>
          <a:noFill/>
          <a:ln w="19050">
            <a:solidFill>
              <a:srgbClr val="0A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279392" y="1581912"/>
            <a:ext cx="182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2540"/>
                </a:solidFill>
              </a:rPr>
              <a:t>▶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407408" y="1371600"/>
            <a:ext cx="1188720" cy="6400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407408" y="137160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614416" y="1691640"/>
            <a:ext cx="128016" cy="0"/>
          </a:xfrm>
          <a:prstGeom prst="line">
            <a:avLst/>
          </a:prstGeom>
          <a:noFill/>
          <a:ln w="19050">
            <a:solidFill>
              <a:srgbClr val="0A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632704" y="1581912"/>
            <a:ext cx="182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2540"/>
                </a:solidFill>
              </a:rPr>
              <a:t>▶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760720" y="1371600"/>
            <a:ext cx="1188720" cy="6400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760720" y="137160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Scheduler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967728" y="1691640"/>
            <a:ext cx="128016" cy="0"/>
          </a:xfrm>
          <a:prstGeom prst="line">
            <a:avLst/>
          </a:prstGeom>
          <a:noFill/>
          <a:ln w="19050">
            <a:solidFill>
              <a:srgbClr val="0A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986016" y="1581912"/>
            <a:ext cx="182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2540"/>
                </a:solidFill>
              </a:rPr>
              <a:t>▶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114032" y="1371600"/>
            <a:ext cx="1188720" cy="6400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114032" y="137160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Evaluator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47472" y="23317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Hybrid Two-Phase Approach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347472" y="2697480"/>
            <a:ext cx="411480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347472" y="2697480"/>
            <a:ext cx="4114800" cy="34747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84632" y="26974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Constructive (Greedy)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84632" y="3090672"/>
            <a:ext cx="384048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initialization: iteratively selects the highest-scoring feasible exercise per session. Produces a valid but potentially unbalanced baseline schedule quickly.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782312" y="2697480"/>
            <a:ext cx="411480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782312" y="2697480"/>
            <a:ext cx="4114800" cy="34747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919472" y="26974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Refinement (Local Search)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4919472" y="3090672"/>
            <a:ext cx="384048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optimization: explores schedule neighborhoods via insertions, relocations, replacements, and swaps. Minimizes fatigue variance across active days.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325112" y="3520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2C39A"/>
                </a:solidFill>
              </a:rPr>
              <a:t>→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54864" cy="5029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30352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1: Constructive (Greedy) Initialization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111556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It Works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508760"/>
            <a:ext cx="347472" cy="347472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50876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04672" y="1517904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all candidate exercises for the session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34924" y="1856232"/>
            <a:ext cx="0" cy="219456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65760" y="2075688"/>
            <a:ext cx="347472" cy="347472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65760" y="207568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04672" y="208483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the highest-scoring feasible exercise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34924" y="2423160"/>
            <a:ext cx="0" cy="219456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65760" y="2642616"/>
            <a:ext cx="347472" cy="347472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65760" y="264261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04672" y="265176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to session — update recovery constraints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34924" y="2990088"/>
            <a:ext cx="0" cy="219456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65760" y="3209544"/>
            <a:ext cx="347472" cy="347472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65760" y="320954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04672" y="321868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until session time/count limits are met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34924" y="3557016"/>
            <a:ext cx="0" cy="219456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65760" y="3776472"/>
            <a:ext cx="347472" cy="347472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65760" y="377647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04672" y="378561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to next session and repeat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709160" y="1115568"/>
            <a:ext cx="4114800" cy="2240280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846320" y="117043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"Spread" Strategy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846320" y="1536192"/>
            <a:ext cx="3794760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are processed in a non-chronological order: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Mon → Thu → Tue → Fri → Wed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prevents front-loading the week — distributing the best-scored exercises across all days rather than exhausting top candidates on Monday first.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4315968"/>
            <a:ext cx="8412480" cy="5029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02920" y="43159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A valid but often unbalanced baseline schedule — the foundation for Phase 2 refinement.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54864" cy="5029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30352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2: Refinement via Local Search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30352" y="10515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Escape local minima inherent in greedy logic (Russell &amp; Norvig, 2020)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444752"/>
            <a:ext cx="4114800" cy="14447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856232"/>
            <a:ext cx="438912" cy="4389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162763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Insertion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097280" y="1993392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 a new exercise into a session that has available time and capacity.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754880" y="1444752"/>
            <a:ext cx="4114800" cy="14447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1856232"/>
            <a:ext cx="438912" cy="43891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532120" y="162763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Relocation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5532120" y="1993392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an exercise to a different session where recovery constraints allow.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320040" y="3044952"/>
            <a:ext cx="4114800" cy="14447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3456432"/>
            <a:ext cx="438912" cy="43891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97280" y="322783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Replacement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1097280" y="3593592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an exercise with a higher-scoring alternative from the candidate pool.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4754880" y="3044952"/>
            <a:ext cx="4114800" cy="14447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0" y="3456432"/>
            <a:ext cx="438912" cy="43891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532120" y="322783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Swap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5532120" y="3593592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Exchange exercises between two sessions to redistribute fatigue load.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320040" y="4709160"/>
            <a:ext cx="8503920" cy="2286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  <a:effectLst>
            <a:outerShdw blurRad="508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16"/>
          <p:cNvSpPr/>
          <p:nvPr/>
        </p:nvSpPr>
        <p:spPr>
          <a:xfrm>
            <a:off x="457200" y="4709160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Function: Minimize variance of assigned fatigue score across all active training days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54864" cy="5029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30352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Constraint Modeling: The Domain Science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115568"/>
            <a:ext cx="260604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1115568"/>
            <a:ext cx="2606040" cy="5029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88720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1664208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Fatigue as a Proxy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457200" y="2167128"/>
            <a:ext cx="2377440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simplified integer abstraction of Session-RPE (sRPE) models subjective training load. Each exercise carries a fatigue value; sessions accumulate these to form a daily workload score (Impellizzeri et al., 2005).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154680" y="1115568"/>
            <a:ext cx="260604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3154680" y="1115568"/>
            <a:ext cx="260604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1840" y="1188720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291840" y="1664208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Biological Recovery Locks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3291840" y="2167128"/>
            <a:ext cx="2377440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48–72 hour recovery windows are mathematically enforced for CNS repair and muscle protein synthesis. Exercises targeting the same muscle group cannot appear in consecutive sessions within this window (Haff &amp; Triplett, 2015).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989320" y="1115568"/>
            <a:ext cx="260604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5989320" y="1115568"/>
            <a:ext cx="2606040" cy="502920"/>
          </a:xfrm>
          <a:prstGeom prst="rect">
            <a:avLst/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480" y="1188720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126480" y="1664208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Movement Taxonomy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6126480" y="2167128"/>
            <a:ext cx="2377440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enforces structural completeness across five fundamental patterns: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A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Squat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A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Hinge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A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Push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A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Pull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A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Core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54864" cy="5029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30352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Evaluation Methodology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115568"/>
            <a:ext cx="4023360" cy="1874520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Baseline Comparison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3749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Refined results evaluated against two baseline generators: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① Greedy-only schedule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② Random feasible schedule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3090672"/>
            <a:ext cx="4023360" cy="1325880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3145536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Statistical Stability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493008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evaluated across 30 randomized trials to ensure robustness and reproducibility of results.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0" y="111556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Scoring Metrics (Weighted Sum)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0" y="1508760"/>
            <a:ext cx="4206240" cy="566928"/>
          </a:xfrm>
          <a:prstGeom prst="rect">
            <a:avLst/>
          </a:prstGeom>
          <a:solidFill>
            <a:srgbClr val="FFFFFF"/>
          </a:solidFill>
          <a:ln w="25400">
            <a:solidFill>
              <a:srgbClr val="065A82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572000" y="1508760"/>
            <a:ext cx="73152" cy="56692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754880" y="153619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Coverage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54880" y="1810512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movement categories filled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0" y="2167128"/>
            <a:ext cx="4206240" cy="566928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572000" y="2167128"/>
            <a:ext cx="73152" cy="5669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754880" y="21945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Priority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54880" y="2468880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sum of selected exercise ranks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0" y="2825496"/>
            <a:ext cx="4206240" cy="566928"/>
          </a:xfrm>
          <a:prstGeom prst="rect">
            <a:avLst/>
          </a:prstGeom>
          <a:solidFill>
            <a:srgbClr val="FFFFFF"/>
          </a:solidFill>
          <a:ln w="25400">
            <a:solidFill>
              <a:srgbClr val="02C39A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572000" y="2825496"/>
            <a:ext cx="73152" cy="56692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754880" y="285292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 Utilization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54880" y="3127248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Fraction of available session time used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0" y="3483864"/>
            <a:ext cx="4206240" cy="566928"/>
          </a:xfrm>
          <a:prstGeom prst="rect">
            <a:avLst/>
          </a:prstGeom>
          <a:solidFill>
            <a:srgbClr val="FFFFFF"/>
          </a:solidFill>
          <a:ln w="25400">
            <a:solidFill>
              <a:srgbClr val="5C6BC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572000" y="3483864"/>
            <a:ext cx="73152" cy="566928"/>
          </a:xfrm>
          <a:prstGeom prst="rect">
            <a:avLst/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754880" y="351129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Fatigue Balance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754880" y="3785616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1 − variance of daily fatigue scores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0" y="4142232"/>
            <a:ext cx="4206240" cy="566928"/>
          </a:xfrm>
          <a:prstGeom prst="rect">
            <a:avLst/>
          </a:prstGeom>
          <a:solidFill>
            <a:srgbClr val="FFFFFF"/>
          </a:solidFill>
          <a:ln w="25400">
            <a:solidFill>
              <a:srgbClr val="E67E22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572000" y="4142232"/>
            <a:ext cx="73152" cy="56692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754880" y="416966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Frequency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754880" y="4443984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Adherence to desired training days per week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54864" cy="7315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30352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Experimental Results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30352" y="7498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Comparative performance across 30 randomized trials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115568"/>
          <a:ext cx="8503920" cy="192024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800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Composite Score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Fatigue Balance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Runtime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D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D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~42.0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D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D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D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0.1s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D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Greedy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D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61.79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(0.13)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D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0.1s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Refined 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73.80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 (Perfect)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Zero (0.00)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~0.3s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320040" y="3218688"/>
            <a:ext cx="8503920" cy="914400"/>
          </a:xfrm>
          <a:prstGeom prst="rect">
            <a:avLst/>
          </a:prstGeom>
          <a:solidFill>
            <a:srgbClr val="F0F4F8"/>
          </a:solidFill>
          <a:ln w="25400">
            <a:solidFill>
              <a:srgbClr val="02C39A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320040" y="3218688"/>
            <a:ext cx="109728" cy="9144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48640" y="326440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Finding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8640" y="358444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Refinement increased composite score by +19.4% over Greedy while achieving perfect workload balance (variance = 0). The entire optimization runs in ~0.3 seconds — negligible overhead for a biologically sound weekly plan.</a:t>
            </a:r>
            <a:endParaRPr lang="en-US" sz="12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0" y="4224528"/>
          <a:ext cx="4297680" cy="777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54864" cy="5029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30352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Case Study: The Optimized 5-Day Split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115568"/>
            <a:ext cx="16002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1115568"/>
            <a:ext cx="1600200" cy="5029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1115568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1682496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Lower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94360" y="2121408"/>
            <a:ext cx="960120" cy="347472"/>
          </a:xfrm>
          <a:prstGeom prst="rect">
            <a:avLst/>
          </a:prstGeom>
          <a:solidFill>
            <a:srgbClr val="065A82">
              <a:alpha val="20000"/>
            </a:srgbClr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94360" y="2121408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Fatigue: 16 pts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" y="254203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Back Squat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65760" y="292608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Romanian Deadlift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65760" y="331012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Leg Press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029968" y="1115568"/>
            <a:ext cx="16002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029968" y="1115568"/>
            <a:ext cx="160020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029968" y="1115568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121408" y="1682496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Upper Push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2350008" y="2121408"/>
            <a:ext cx="960120" cy="347472"/>
          </a:xfrm>
          <a:prstGeom prst="rect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350008" y="2121408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Fatigue: 15 pts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121408" y="254203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Bench Press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121408" y="292608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Overhead Press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121408" y="331012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Tricep Dips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785616" y="1115568"/>
            <a:ext cx="16002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785616" y="1115568"/>
            <a:ext cx="1600200" cy="502920"/>
          </a:xfrm>
          <a:prstGeom prst="rect">
            <a:avLst/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785616" y="1115568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Wed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3877056" y="1682496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+ Core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105656" y="2121408"/>
            <a:ext cx="960120" cy="347472"/>
          </a:xfrm>
          <a:prstGeom prst="rect">
            <a:avLst/>
          </a:prstGeom>
          <a:solidFill>
            <a:srgbClr val="5C6BC0">
              <a:alpha val="20000"/>
            </a:srgbClr>
          </a:solidFill>
          <a:ln w="12700">
            <a:solidFill>
              <a:srgbClr val="5C6B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105656" y="2121408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C6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Fatigue: 15 pts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877056" y="254203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Pull-Ups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877056" y="292608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Barbell Row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3877056" y="331012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Plank Variation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541264" y="1115568"/>
            <a:ext cx="16002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5541264" y="1115568"/>
            <a:ext cx="1600200" cy="5029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541264" y="1115568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Sat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5632704" y="1682496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 Hinge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5861304" y="2121408"/>
            <a:ext cx="960120" cy="347472"/>
          </a:xfrm>
          <a:prstGeom prst="rect">
            <a:avLst/>
          </a:prstGeom>
          <a:solidFill>
            <a:srgbClr val="065A82">
              <a:alpha val="20000"/>
            </a:srgbClr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861304" y="2121408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Fatigue: 16 pts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632704" y="254203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Deadlift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5632704" y="292608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Hip Thrust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632704" y="331012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Good Morning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7296912" y="1115568"/>
            <a:ext cx="16002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7296912" y="1115568"/>
            <a:ext cx="1600200" cy="5029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7296912" y="1115568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Sun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7388352" y="1682496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Body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7616952" y="2121408"/>
            <a:ext cx="960120" cy="347472"/>
          </a:xfrm>
          <a:prstGeom prst="rect">
            <a:avLst/>
          </a:prstGeom>
          <a:solidFill>
            <a:srgbClr val="02C39A">
              <a:alpha val="20000"/>
            </a:srgbClr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7616952" y="2121408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Fatigue: 15 pts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7388352" y="254203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Goblet Squat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7388352" y="292608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DB Press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7388352" y="331012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Cable Row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274320" y="4809744"/>
            <a:ext cx="8595360" cy="22860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  <a:effectLst>
            <a:outerShdw blurRad="50800" dist="127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365760" y="4809744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session: 15–16 fatigue points  ·  Zero variance across days  ·  All five movement categories covered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54864" cy="5029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30352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Engineering Challenges &amp; Insights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115568"/>
            <a:ext cx="411480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1115568"/>
            <a:ext cx="4114800" cy="45720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56" y="1179576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1179576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"Meaningful Session" Problem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57200" y="1664208"/>
            <a:ext cx="3840480" cy="256032"/>
          </a:xfrm>
          <a:prstGeom prst="rect">
            <a:avLst/>
          </a:prstGeom>
          <a:solidFill>
            <a:srgbClr val="F0F4F8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484632" y="16733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457200" y="1938528"/>
            <a:ext cx="3840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algorithm could produce 1-exercise micro-sessions — technically valid but practically useless.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57200" y="3145536"/>
            <a:ext cx="3840480" cy="256032"/>
          </a:xfrm>
          <a:prstGeom prst="rect">
            <a:avLst/>
          </a:prstGeom>
          <a:solidFill>
            <a:srgbClr val="E67E22">
              <a:alpha val="15000"/>
            </a:srgbClr>
          </a:solidFill>
          <a:ln w="635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84632" y="315468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457200" y="3419856"/>
            <a:ext cx="384048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Hard lower bounds enforced — minimum 10 minutes duration AND minimum 2 exercises per session before a day is considered active.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754880" y="1115568"/>
            <a:ext cx="411480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4754880" y="1115568"/>
            <a:ext cx="4114800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2896" y="1179576"/>
            <a:ext cx="292608" cy="29260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257800" y="1179576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Heuristic Tuning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4892040" y="1664208"/>
            <a:ext cx="3840480" cy="256032"/>
          </a:xfrm>
          <a:prstGeom prst="rect">
            <a:avLst/>
          </a:prstGeom>
          <a:solidFill>
            <a:srgbClr val="F0F4F8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5"/>
          <p:cNvSpPr/>
          <p:nvPr/>
        </p:nvSpPr>
        <p:spPr>
          <a:xfrm>
            <a:off x="4919472" y="16733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850" dirty="0"/>
          </a:p>
        </p:txBody>
      </p:sp>
      <p:sp>
        <p:nvSpPr>
          <p:cNvPr id="20" name="Text 16"/>
          <p:cNvSpPr/>
          <p:nvPr/>
        </p:nvSpPr>
        <p:spPr>
          <a:xfrm>
            <a:off x="4892040" y="1938528"/>
            <a:ext cx="3840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aggressive fatigue penalty risks ignoring high-value exercises (e.g. Squat, Deadlift) in favor of low-load filler movements.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4892040" y="3145536"/>
            <a:ext cx="3840480" cy="256032"/>
          </a:xfrm>
          <a:prstGeom prst="rect">
            <a:avLst/>
          </a:prstGeom>
          <a:solidFill>
            <a:srgbClr val="028090">
              <a:alpha val="15000"/>
            </a:srgbClr>
          </a:solidFill>
          <a:ln w="63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8"/>
          <p:cNvSpPr/>
          <p:nvPr/>
        </p:nvSpPr>
        <p:spPr>
          <a:xfrm>
            <a:off x="4919472" y="315468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850" dirty="0"/>
          </a:p>
        </p:txBody>
      </p:sp>
      <p:sp>
        <p:nvSpPr>
          <p:cNvPr id="23" name="Text 19"/>
          <p:cNvSpPr/>
          <p:nvPr/>
        </p:nvSpPr>
        <p:spPr>
          <a:xfrm>
            <a:off x="4892040" y="3419856"/>
            <a:ext cx="384048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Careful calibration of the weight ratio between Fatigue Penalty and Exercise Priority — ensuring the system selects compound lifts even at a fatigue cost.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4114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 &amp; Future Work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1051560"/>
            <a:ext cx="8321040" cy="1463040"/>
          </a:xfrm>
          <a:prstGeom prst="rect">
            <a:avLst/>
          </a:prstGeom>
          <a:solidFill>
            <a:srgbClr val="0D2035"/>
          </a:solidFill>
          <a:ln w="12700">
            <a:solidFill>
              <a:srgbClr val="028090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11480" y="1051560"/>
            <a:ext cx="91440" cy="14630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0972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Summary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444752"/>
            <a:ext cx="79552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hybrid Greedy + Local Search architecture effectively bridges qualitative sports science and quantitative optimization — producing balanced, biologically sound training plans that outperform intuition-based programming by a measurable margin.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11480" y="2651760"/>
            <a:ext cx="8321040" cy="1481328"/>
          </a:xfrm>
          <a:prstGeom prst="rect">
            <a:avLst/>
          </a:prstGeom>
          <a:solidFill>
            <a:srgbClr val="0D2035"/>
          </a:solidFill>
          <a:ln w="12700">
            <a:solidFill>
              <a:srgbClr val="065A82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11480" y="2651760"/>
            <a:ext cx="91440" cy="148132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0080" y="2697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Future Work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3044952"/>
            <a:ext cx="79552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 from Flat Fatigue to Undulating Periodization (Fleck &amp; Kraemer, 2014): oscillating daily fatigue caps across the training week to model real periodization cycles — enabling week-over-week program variation and long-term adaptation.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11480" y="429768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"Computational scheduling provides a systematic, bias-free foundation for training design."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347472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Q&amp;A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411480" y="1024128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Aaron Tobias  ·  Questions &amp; Discussion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444752"/>
            <a:ext cx="8321040" cy="0"/>
          </a:xfrm>
          <a:prstGeom prst="line">
            <a:avLst/>
          </a:prstGeom>
          <a:noFill/>
          <a:ln w="12700">
            <a:solidFill>
              <a:srgbClr val="1C3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" y="157276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References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11480" y="201168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 Pinedo, M. L. (2016). Scheduling: Theory, Algorithms, and Systems (5th ed.). Springer.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2560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 Russell, S., &amp; Norvig, P. (2020). Artificial Intelligence: A Modern Approach (4th ed.). Pearson.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310896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 Impellizzeri, F. M., Rampinini, E., Coutts, A. J., Sassi, A., &amp; Marcora, S. M. (2005). Use of RPE-based training load in soccer. Medicine &amp; Science in Sports &amp; Exercise, 37(6), 1042–1047.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365760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 Haff, G. G., &amp; Triplett, N. T. (Eds.). (2015). Essentials of Strength Training and Conditioning (4th ed.). Human Kinetics.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420624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 Fleck, S. J., &amp; Kraemer, W. J. (2014). Designing Resistance Training Programs (4th ed.). Human Kinetics.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1212</Words>
  <Application>Microsoft Office PowerPoint</Application>
  <PresentationFormat>On-screen Show (16:9)</PresentationFormat>
  <Paragraphs>197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Algorithmic Optimization of Weekly Training Plans</dc:title>
  <dc:subject>PptxGenJS Presentation</dc:subject>
  <dc:creator>Aaron Tobias</dc:creator>
  <cp:lastModifiedBy>Aaron Tobias</cp:lastModifiedBy>
  <cp:revision>1</cp:revision>
  <dcterms:created xsi:type="dcterms:W3CDTF">2026-04-26T17:33:11Z</dcterms:created>
  <dcterms:modified xsi:type="dcterms:W3CDTF">2026-04-26T17:39:34Z</dcterms:modified>
</cp:coreProperties>
</file>